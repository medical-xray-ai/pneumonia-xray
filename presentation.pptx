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Presenters: Member 1 to Member 5, 3-4 minutes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1. Audit: no filename patient key crossed folders; 30 exact-duplicate groups and 44 near-duplicate pairs overall.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3. Figure: report/figures/training_curves.png from history.csv of both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4. Ablation runs: configs/densenet121_frozen.yaml and configs/densenet121_lr2e-4.yaml.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4. Error rates are for the selected DenseNet-121 at tau = 0.502 on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5. Fill after the single locked-test run: run_all.py infer --split test, then evaluate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rgbClr val="0F7B6C">
              <a:alpha val="30000"/>
            </a:srgbClr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108960"/>
            <a:ext cx="2377440" cy="2377440"/>
          </a:xfrm>
          <a:prstGeom prst="ellipse">
            <a:avLst/>
          </a:prstGeom>
          <a:solidFill>
            <a:srgbClr val="7FD1C1">
              <a:alpha val="20000"/>
            </a:srgbClr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144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Leakage-Aware Pediatric Pneumonia Detection from Chest Radiographs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D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CNN versus a pretrained DenseNet-121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Mammadli, Madina  ·  Khasiyeva, Seljan  ·  Rahimli, Ulkar  ·  Aliyeva, Nazrin  ·  Mardaliyeva, Aytan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 · National Artificial Intelligence Center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Final Project · Track 2: Applied Research ·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PROBLEM AND 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problem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Pneumonia is the largest infectious cause of death in children worldwide.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X-rays are cheap and everywhere. Radiologists to read them are not.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6974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likely pneumonia on a pediatric chest X-ray, as a screening aid.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256032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26974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costly error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pneumonia: a sick child sent home. So we track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just accuracy.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PROBLEM AND 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61872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a leakage-free protocol, does an ImageNet-pretrained DenseNet-121 beat a small CNN trained from scratch at detecting pediatric pneumonia, and where does it still fail?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67919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2: 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clinical dataset, domain metrics, per-group errors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19272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3009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pipeline, loss and evaluation code for both models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922776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chosen on validation; test set opened </a:t>
            </a:r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PROBLEM AND 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Kermany pediatric chest X-rays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5,856 radiographs, children aged 1-5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Guangzhou Women and Children's Medical Center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Data v3,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 4.0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pneumonia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accuracy is misleading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Subtype in filename: 2,780 bacterial, 1,493 viral (audit only, not a target)</a:t>
            </a:r>
            <a:endParaRPr lang="en-US" sz="1500" dirty="0"/>
          </a:p>
        </p:txBody>
      </p:sp>
      <p:pic>
        <p:nvPicPr>
          <p:cNvPr id="6" name="Image 0" descr="class distrib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55568"/>
            <a:ext cx="4114800" cy="28495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PROBLEM AND 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provided split leaks, so we rebuilt 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found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folder: only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images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duplicate groups (22 images) link provided train and test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keys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 from filename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SHA-256 hash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near-duplicates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split_v1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groups never cross splits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73736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00584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Pneumonia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(locked)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15, seed 42, committed as manifests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BASELINE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426464" cy="777240"/>
          </a:xfrm>
          <a:prstGeom prst="roundRect">
            <a:avLst>
              <a:gd name="adj" fmla="val 9412"/>
            </a:avLst>
          </a:prstGeom>
          <a:solidFill>
            <a:srgbClr val="EAF4F1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42646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split_v1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47672" y="1568196"/>
            <a:ext cx="146304" cy="201168"/>
          </a:xfrm>
          <a:prstGeom prst="chevron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57984" y="1280160"/>
            <a:ext cx="1426464" cy="777240"/>
          </a:xfrm>
          <a:prstGeom prst="roundRect">
            <a:avLst>
              <a:gd name="adj" fmla="val 9412"/>
            </a:avLst>
          </a:prstGeom>
          <a:solidFill>
            <a:srgbClr val="EAF4F1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57984" y="1280160"/>
            <a:ext cx="142646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pad, 3-ch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48456" y="1568196"/>
            <a:ext cx="146304" cy="201168"/>
          </a:xfrm>
          <a:prstGeom prst="chevron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58768" y="1280160"/>
            <a:ext cx="1426464" cy="777240"/>
          </a:xfrm>
          <a:prstGeom prst="roundRect">
            <a:avLst>
              <a:gd name="adj" fmla="val 9412"/>
            </a:avLst>
          </a:prstGeom>
          <a:solidFill>
            <a:srgbClr val="EAF4F1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58768" y="1280160"/>
            <a:ext cx="142646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DenseNet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49240" y="1568196"/>
            <a:ext cx="146304" cy="201168"/>
          </a:xfrm>
          <a:prstGeom prst="chevron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59552" y="1280160"/>
            <a:ext cx="1426464" cy="777240"/>
          </a:xfrm>
          <a:prstGeom prst="roundRect">
            <a:avLst>
              <a:gd name="adj" fmla="val 9412"/>
            </a:avLst>
          </a:prstGeom>
          <a:solidFill>
            <a:srgbClr val="EAF4F1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59552" y="1280160"/>
            <a:ext cx="142646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50024" y="1568196"/>
            <a:ext cx="146304" cy="201168"/>
          </a:xfrm>
          <a:prstGeom prst="chevron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0336" y="1280160"/>
            <a:ext cx="1426464" cy="777240"/>
          </a:xfrm>
          <a:prstGeom prst="roundRect">
            <a:avLst>
              <a:gd name="adj" fmla="val 9412"/>
            </a:avLst>
          </a:prstGeom>
          <a:solidFill>
            <a:srgbClr val="EAF4F1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0336" y="1280160"/>
            <a:ext cx="142646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(validation)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42316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56032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 preserved, zero-padded: no stretched anatomy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copied to 3 channels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256032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(train only)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±5°, shift 3%, brightness/contrast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horizontal flip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heart is on the left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BASELINE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Baseline: a small CNN from scratch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34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123444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234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64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57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128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97480" y="205740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2057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256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80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97480" y="288036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97480" y="2880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64 → 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49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block: 3×3 conv, BatchNorm, ReLU, max-pool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1188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405k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23774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lr 10</a:t>
            </a:r>
            <a:pPr indent="0" marL="0">
              <a:spcAft>
                <a:spcPts val="600"/>
              </a:spcAft>
              <a:buNone/>
            </a:pP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batch 32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BCE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 on val macro F1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BASELINE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results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pic>
        <p:nvPicPr>
          <p:cNvPr id="5" name="Image 0" descr="confusion matrix small cnn valid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493" y="1143000"/>
            <a:ext cx="4371975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0352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(τ = 0.529)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691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0.949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2194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0.978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2697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0.911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303520" y="329184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40680" y="336499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405k-parameter CNN already reaches 0.95 macro F1. It rarely misses pneumonia (14 of 640) but flags 21 of 237 normal children.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MAIN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model: pretrained DenseNet-121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weights, new head: dropout 0.2 + 1 logit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backbone as CheXNet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layers keep BatchNorm in eval mode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4023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 depth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dense block (main)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2,161,153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6,954,881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MAIN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within the compute budget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lr 10</a:t>
            </a:r>
            <a:pPr indent="0" marL="0">
              <a:spcAft>
                <a:spcPts val="600"/>
              </a:spcAft>
              <a:buNone/>
            </a:pP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batch 16, ≤15 epochs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precision, gradient clipping 5.0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halved on plateau; early stop (patience 4)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42, deterministic cuDNN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checkpoints: identical weights after restart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0" y="1234440"/>
            <a:ext cx="3840480" cy="1325880"/>
          </a:xfrm>
          <a:prstGeom prst="roundRect">
            <a:avLst>
              <a:gd name="adj" fmla="val 689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417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 peak GPU memory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417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of training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743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early at epoch 9 (best epoch 5) on an A100 MIG 3g.20gb slice; baseline: 0.65 GB, 7.2 min. Budget: 2 days, 10-12 GB.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MAIN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curves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86962" y="1097280"/>
            <a:ext cx="6770077" cy="2514600"/>
          </a:xfrm>
          <a:prstGeom prst="roundRect">
            <a:avLst>
              <a:gd name="adj" fmla="val 2909"/>
            </a:avLst>
          </a:prstGeom>
          <a:solidFill>
            <a:srgbClr val="FDECEC"/>
          </a:solidFill>
          <a:ln w="15875">
            <a:solidFill>
              <a:srgbClr val="C62828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1186962" y="1097280"/>
            <a:ext cx="6770077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pending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report/figures/training_curves.png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730752"/>
            <a:ext cx="2596896" cy="932688"/>
          </a:xfrm>
          <a:prstGeom prst="roundRect">
            <a:avLst>
              <a:gd name="adj" fmla="val 9804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86791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is strong at once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DenseNet-121: 0.955 macro F1 after epoch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3552" y="3730752"/>
            <a:ext cx="2596896" cy="932688"/>
          </a:xfrm>
          <a:prstGeom prst="roundRect">
            <a:avLst>
              <a:gd name="adj" fmla="val 9804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386791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works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flat after epoch 5; run stops at 9, keeps epoch 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9904" y="3730752"/>
            <a:ext cx="2596896" cy="932688"/>
          </a:xfrm>
          <a:prstGeom prst="roundRect">
            <a:avLst>
              <a:gd name="adj" fmla="val 9804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72784" y="386791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 is noisy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dips to 0.48 at epoch 4, settles, still improving at 20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EVALUATION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primary, picks the model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clinical, missed pneumonia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Specificity, ROC-AUC, PR-AUC, confusion matrix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3716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searched over validation only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go to higher sensitivity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threshold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 file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script refuses to run without 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EVALUATION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Validation: DenseNet-121 vs baseline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206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 (of 237)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(of 640)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roc valid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156484"/>
            <a:ext cx="3749040" cy="34020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EVALUATION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how much to fine-tune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91440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3×10</a:t>
                      </a:r>
                      <a:pPr algn="l" indent="0" marL="0">
                        <a:buNone/>
                      </a:pPr>
                      <a:r>
                        <a:rPr lang="en-US" sz="130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block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pPr algn="l" indent="0" marL="0">
                        <a:buNone/>
                      </a:pPr>
                      <a:r>
                        <a:rPr lang="en-US" sz="130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block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2×10</a:t>
                      </a:r>
                      <a:pPr algn="l" indent="0" marL="0">
                        <a:buNone/>
                      </a:pPr>
                      <a:r>
                        <a:rPr lang="en-US" sz="130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[TBD: takeaway]</a:t>
            </a:r>
            <a:endParaRPr lang="en-US" sz="1400" dirty="0"/>
          </a:p>
        </p:txBody>
      </p:sp>
      <p:pic>
        <p:nvPicPr>
          <p:cNvPr id="7" name="Image 0" descr="threshold sweep densenet1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409150"/>
            <a:ext cx="3749040" cy="25766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937760" y="40589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sweep, frozen τ marked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EVALUATION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fails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Bacterial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3840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52044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94360" y="35661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pneumonia is missed about </a:t>
            </a:r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as often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bacterial. Some misses are confident (lowest p = 0.005).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663440" y="1379220"/>
            <a:ext cx="4023360" cy="2682240"/>
          </a:xfrm>
          <a:prstGeom prst="roundRect">
            <a:avLst>
              <a:gd name="adj" fmla="val 2727"/>
            </a:avLst>
          </a:prstGeom>
          <a:solidFill>
            <a:srgbClr val="FDECEC"/>
          </a:solidFill>
          <a:ln w="15875">
            <a:solidFill>
              <a:srgbClr val="C62828"/>
            </a:solidFill>
            <a:prstDash val="dash"/>
          </a:ln>
        </p:spPr>
      </p:sp>
      <p:sp>
        <p:nvSpPr>
          <p:cNvPr id="10" name="Text 6"/>
          <p:cNvSpPr txBox="1"/>
          <p:nvPr/>
        </p:nvSpPr>
        <p:spPr>
          <a:xfrm>
            <a:off x="4663440" y="1379220"/>
            <a:ext cx="402336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pending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report/figures/gradcam_examples.png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663440" y="4315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shows attention, not pathology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FINAL RESULT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test set: evaluated once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206240" cy="2834640"/>
          </a:xfrm>
          <a:prstGeom prst="roundRect">
            <a:avLst>
              <a:gd name="adj" fmla="val 3226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TBD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F1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325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TBD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06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TBD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specificity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06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TBD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160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model DenseNet-121, τ = 0.502, n = 877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341568"/>
            <a:ext cx="3749040" cy="2940424"/>
          </a:xfrm>
          <a:prstGeom prst="roundRect">
            <a:avLst>
              <a:gd name="adj" fmla="val 2488"/>
            </a:avLst>
          </a:prstGeom>
          <a:solidFill>
            <a:srgbClr val="FDECEC"/>
          </a:solidFill>
          <a:ln w="15875">
            <a:solidFill>
              <a:srgbClr val="C62828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937760" y="1341568"/>
            <a:ext cx="3749040" cy="2940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pending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report/figures/confusion_matrix_densenet121_test.png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FINAL RESULT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and deployment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D1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run_all.py develop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server environment recorded, fixed seeds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logged: commit, config, split, GPU memory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tests: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Clean-clone release check passes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34440"/>
          <a:ext cx="3840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DenseNet-121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 (fp32)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latency / image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latency / image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process 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846320" y="35661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Intel i5-13420H laptop, median of 100 runs; baseline CNN: 13 ms, 1.6 MB. Academic prototype, not a clinical tool.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FINAL RESULT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IDs are inferred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filenames: some identity overlap may remain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371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split, one seed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confidence intervals; small gaps are not rankings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743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pediatric hospital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transfer to adults or other sites without external validation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6060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743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sanity check, not clinical evidence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a leakage-free, patient-grouped split of the Kermany dataset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DenseNet-121 macro F1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7FD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0.964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0.949 for the baseline, with 8 instead of 21 false alarms; locked test: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[TBD: macro F1]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pneumonia is missed about 3× as often as bacterial (4.7% vs 1.5%)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external validation on another hospital; multiple seeds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D1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2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github.com/Medical-Xray-AI/pneumonia-xray (tag v1.0-final)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Backup: full training configuration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73152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468880"/>
                <a:gridCol w="24688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DenseNet-121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Trainable 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405,409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2,161,153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AdamW, wd 10</a:t>
                      </a:r>
                      <a:pPr algn="l" indent="0" marL="0">
                        <a:buNone/>
                      </a:pPr>
                      <a:r>
                        <a:rPr lang="en-US" sz="120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AdamW, wd 10</a:t>
                      </a:r>
                      <a:pPr algn="l" indent="0" marL="0">
                        <a:buNone/>
                      </a:pPr>
                      <a:r>
                        <a:rPr lang="en-US" sz="120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pPr algn="l" indent="0" marL="0">
                        <a:buNone/>
                      </a:pPr>
                      <a:r>
                        <a:rPr lang="en-US" sz="120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pPr algn="l" indent="0" marL="0">
                        <a:buNone/>
                      </a:pPr>
                      <a:r>
                        <a:rPr lang="en-US" sz="120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 / max 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Early-stop patience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statistics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class-weighted BCE with logits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class-weighted BCE with logits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mixed 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mixed 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Backup: PR curves and validation confusion matrix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pneumonia detection</a:t>
            </a:r>
            <a:endParaRPr lang="en-US" sz="900" dirty="0"/>
          </a:p>
        </p:txBody>
      </p:sp>
      <p:pic>
        <p:nvPicPr>
          <p:cNvPr id="5" name="Image 0" descr="pr valid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09" y="1143000"/>
            <a:ext cx="3829141" cy="3474720"/>
          </a:xfrm>
          <a:prstGeom prst="rect">
            <a:avLst/>
          </a:prstGeom>
        </p:spPr>
      </p:pic>
      <p:pic>
        <p:nvPicPr>
          <p:cNvPr id="6" name="Image 1" descr="confusion matrix densenet121 valid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02572"/>
            <a:ext cx="4023360" cy="31555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Leakage-Aware Pediatric Pneumonia Detection from Chest Radiographs</dc:title>
  <dc:subject>PptxGenJS Presentation</dc:subject>
  <dc:creator>Mammadli, Khasiyeva, Rahimli, Aliyeva, Mardaliyeva</dc:creator>
  <cp:lastModifiedBy>Mammadli, Khasiyeva, Rahimli, Aliyeva, Mardaliyeva</cp:lastModifiedBy>
  <cp:revision>1</cp:revision>
  <dcterms:created xsi:type="dcterms:W3CDTF">2026-09-11T19:48:46Z</dcterms:created>
  <dcterms:modified xsi:type="dcterms:W3CDTF">2026-09-11T19:48:46Z</dcterms:modified>
</cp:coreProperties>
</file>